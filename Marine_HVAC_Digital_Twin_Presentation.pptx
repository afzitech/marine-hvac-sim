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4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9217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arine-hvac-sim.vercel.app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572000" y="0"/>
            <a:ext cx="4572000" cy="5143500"/>
          </a:xfrm>
          <a:prstGeom prst="rtTriangle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 flipH="1">
            <a:off x="4754880" y="0"/>
            <a:ext cx="4389120" cy="5143500"/>
          </a:xfrm>
          <a:prstGeom prst="rtTriangle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731520"/>
            <a:ext cx="6400800" cy="1828800"/>
          </a:xfrm>
          <a:prstGeom prst="rect">
            <a:avLst/>
          </a:prstGeom>
          <a:solidFill>
            <a:srgbClr val="0F172A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22960"/>
            <a:ext cx="6035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MARINE HVAC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DIGITAL TWIN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22D3EE"/>
                </a:solidFill>
              </a:rPr>
              <a:t>Activity-Based Learning &amp; Incident Simulation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926080"/>
            <a:ext cx="3657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4A3B8"/>
                </a:solidFill>
              </a:rPr>
              <a:t>PRESENTED BY: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32918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Cyril Dheeran (2303608023)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Mohammed Dhafiq (2303608039)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M Athul Dev (2303608037)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Afsal Rahman J (2303608008)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4389120"/>
            <a:ext cx="4114800" cy="457200"/>
          </a:xfrm>
          <a:prstGeom prst="roundRect">
            <a:avLst>
              <a:gd name="adj" fmla="val 20000"/>
            </a:avLst>
          </a:prstGeom>
          <a:solidFill>
            <a:srgbClr val="0E7490"/>
          </a:solidFill>
          <a:ln/>
          <a:effectLst>
            <a:outerShdw blurRad="63500" dist="50800" dir="16200000" algn="bl" rotWithShape="0">
              <a:srgbClr val="0E7490">
                <a:alpha val="40000"/>
              </a:srgbClr>
            </a:outerShdw>
          </a:effectLst>
        </p:spPr>
      </p:sp>
      <p:sp>
        <p:nvSpPr>
          <p:cNvPr id="11" name="Text 9">
            <a:hlinkClick r:id="rId3"/>
          </p:cNvPr>
          <p:cNvSpPr/>
          <p:nvPr/>
        </p:nvSpPr>
        <p:spPr>
          <a:xfrm>
            <a:off x="365760" y="4389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LAUNCH LIVE APPLICATION ↗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"/>
            <a:ext cx="91440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</a:rPr>
              <a:t>SYS.MONITOR // ACTIVE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4A3B8"/>
                </a:solidFill>
              </a:rPr>
              <a:t>MODULE_01A // LIVE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4937760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</a:rPr>
              <a:t>MARINE HVAC DIGITAL TWIN v1.0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0" y="41148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400" b="1" dirty="0">
                <a:solidFill>
                  <a:srgbClr val="F1F5F9"/>
                </a:solidFill>
              </a:rPr>
              <a:t>HVAC.TWIN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6576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CASE STUDY 1: REGINA SEAWAYS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868680"/>
            <a:ext cx="4572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490"/>
                </a:solidFill>
              </a:rPr>
              <a:t>INCIDENT OVERVIEW &amp; VESSEL PROFILE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508760"/>
            <a:ext cx="73152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</a:rPr>
              <a:t>Vessel Classification: </a:t>
            </a:r>
            <a:r>
              <a:rPr lang="en-US" sz="1600" dirty="0">
                <a:solidFill>
                  <a:srgbClr val="334155"/>
                </a:solidFill>
              </a:rPr>
              <a:t>DFDS Regina Seaways (Commercial Ro-Ro Passenger Ferry).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73152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</a:rPr>
              <a:t>Incident Environment: </a:t>
            </a:r>
            <a:r>
              <a:rPr lang="en-US" sz="1600" dirty="0">
                <a:solidFill>
                  <a:srgbClr val="334155"/>
                </a:solidFill>
              </a:rPr>
              <a:t>Underway in the Baltic Sea, en route to Klaipeda, Lithuania (October 2018).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73152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743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</a:rPr>
              <a:t>Initial Trigger: </a:t>
            </a:r>
            <a:r>
              <a:rPr lang="en-US" sz="1600" dirty="0">
                <a:solidFill>
                  <a:srgbClr val="334155"/>
                </a:solidFill>
              </a:rPr>
              <a:t>Excessive block vibration detected, culminating in a catastrophic mechanical breakdown of the starboard main engine.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3520440"/>
            <a:ext cx="73152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Primary Hazard: </a:t>
            </a:r>
            <a:r>
              <a:rPr lang="en-US" sz="1600" dirty="0">
                <a:solidFill>
                  <a:srgbClr val="334155"/>
                </a:solidFill>
              </a:rPr>
              <a:t>Internal engine components structurally breached the crankcase, instantly igniting an uncontained engine room fire.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"/>
            <a:ext cx="91440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</a:rPr>
              <a:t>SYS.MONITOR // ACTIVE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4A3B8"/>
                </a:solidFill>
              </a:rPr>
              <a:t>MODULE_01B // LIVE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4937760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</a:rPr>
              <a:t>MARINE HVAC DIGITAL TWIN v1.0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0" y="41148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400" b="1" dirty="0">
                <a:solidFill>
                  <a:srgbClr val="F1F5F9"/>
                </a:solidFill>
              </a:rPr>
              <a:t>HVAC.TWIN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6576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CASE STUDY 1: REGINA SEAWAYS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868680"/>
            <a:ext cx="4572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490"/>
                </a:solidFill>
              </a:rPr>
              <a:t>TECHNICAL HVAC FLAW &amp; CASCADING FAILURE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508760"/>
            <a:ext cx="73152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Structural Design Flaw: </a:t>
            </a:r>
            <a:r>
              <a:rPr lang="en-US" sz="1600" dirty="0">
                <a:solidFill>
                  <a:srgbClr val="334155"/>
                </a:solidFill>
              </a:rPr>
              <a:t>Port and starboard engine compartments shared interconnected ambient ventilation ducting.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73152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</a:rPr>
              <a:t>Missing Safeties: </a:t>
            </a:r>
            <a:r>
              <a:rPr lang="en-US" sz="1600" dirty="0">
                <a:solidFill>
                  <a:srgbClr val="334155"/>
                </a:solidFill>
              </a:rPr>
              <a:t>The shared duct lacked automatic, heat-triggered fire isolation dampers.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73152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743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</a:rPr>
              <a:t>Cross-Contamination: </a:t>
            </a:r>
            <a:r>
              <a:rPr lang="en-US" sz="1600" dirty="0">
                <a:solidFill>
                  <a:srgbClr val="334155"/>
                </a:solidFill>
              </a:rPr>
              <a:t>The running port engine created negative pressure, pulling toxic smoke from the starboard fire directly into its own air intakes.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3520440"/>
            <a:ext cx="73152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Ultimate Consequence: </a:t>
            </a:r>
            <a:r>
              <a:rPr lang="en-US" sz="1600" dirty="0">
                <a:solidFill>
                  <a:srgbClr val="334155"/>
                </a:solidFill>
              </a:rPr>
              <a:t>The port engine aspirated particulate matter, choked, and stalled. The vessel suffered a total blackout and loss of propulsion.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"/>
            <a:ext cx="91440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</a:rPr>
              <a:t>SYS.MONITOR // ACTIVE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4A3B8"/>
                </a:solidFill>
              </a:rPr>
              <a:t>MODULE_01C // LIVE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4937760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</a:rPr>
              <a:t>MARINE HVAC DIGITAL TWIN v1.0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0" y="41148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400" b="1" dirty="0">
                <a:solidFill>
                  <a:srgbClr val="F1F5F9"/>
                </a:solidFill>
              </a:rPr>
              <a:t>HVAC.TWIN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6576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REAL-WORLD AFTERMATH: REGINA SEAWAYS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868680"/>
            <a:ext cx="4572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490"/>
                </a:solidFill>
              </a:rPr>
              <a:t>ACTUAL INCIDENT PHOTO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8412480" cy="3200400"/>
          </a:xfrm>
          <a:prstGeom prst="rect">
            <a:avLst/>
          </a:prstGeom>
          <a:solidFill>
            <a:srgbClr val="E2E8F0"/>
          </a:solidFill>
          <a:ln w="25400"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37160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INSERT ACTUAL INCIDENT PHOTO HERE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(Real-world picture of the vessel or aftermath)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"/>
            <a:ext cx="91440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</a:rPr>
              <a:t>SYS.MONITOR // ACTIVE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4A3B8"/>
                </a:solidFill>
              </a:rPr>
              <a:t>MODULE_01D // LIVE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4937760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</a:rPr>
              <a:t>MARINE HVAC DIGITAL TWIN v1.0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0" y="41148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400" b="1" dirty="0">
                <a:solidFill>
                  <a:srgbClr val="F1F5F9"/>
                </a:solidFill>
              </a:rPr>
              <a:t>HVAC.TWIN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6576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SIMULATION: REGINA SEAWAYS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868680"/>
            <a:ext cx="4572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490"/>
                </a:solidFill>
              </a:rPr>
              <a:t>CRITICAL DECISION REQUIRED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8412480" cy="3200400"/>
          </a:xfrm>
          <a:prstGeom prst="rect">
            <a:avLst/>
          </a:prstGeom>
          <a:solidFill>
            <a:srgbClr val="E2E8F0"/>
          </a:solidFill>
          <a:ln w="25400"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37160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INSERT DIGITAL TWIN SCREENSHOT HERE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(Action: Manually Close Isolation Dampers)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"/>
            <a:ext cx="91440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</a:rPr>
              <a:t>SYS.MONITOR // ACTIVE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4A3B8"/>
                </a:solidFill>
              </a:rPr>
              <a:t>MODULE_02A // LIVE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4937760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</a:rPr>
              <a:t>MARINE HVAC DIGITAL TWIN v1.0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0" y="41148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400" b="1" dirty="0">
                <a:solidFill>
                  <a:srgbClr val="F1F5F9"/>
                </a:solidFill>
              </a:rPr>
              <a:t>HVAC.TWIN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6576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CASE STUDY 2: F/V KALTAN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868680"/>
            <a:ext cx="4572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490"/>
                </a:solidFill>
              </a:rPr>
              <a:t>INCIDENT OVERVIEW &amp; VESSEL PROFILE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508760"/>
            <a:ext cx="73152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</a:rPr>
              <a:t>Vessel Classification: </a:t>
            </a:r>
            <a:r>
              <a:rPr lang="en-US" sz="1600" dirty="0">
                <a:solidFill>
                  <a:srgbClr val="334155"/>
                </a:solidFill>
              </a:rPr>
              <a:t>Commercial Fishing Trawler.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73152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</a:rPr>
              <a:t>Incident Environment: </a:t>
            </a:r>
            <a:r>
              <a:rPr lang="en-US" sz="1600" dirty="0">
                <a:solidFill>
                  <a:srgbClr val="334155"/>
                </a:solidFill>
              </a:rPr>
              <a:t>Docked for out-of-service repairs at Gamcheon Port, Busan, South Korea (September 15, 2026).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73152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743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</a:rPr>
              <a:t>Initial Trigger: </a:t>
            </a:r>
            <a:r>
              <a:rPr lang="en-US" sz="1600" dirty="0">
                <a:solidFill>
                  <a:srgbClr val="334155"/>
                </a:solidFill>
              </a:rPr>
              <a:t>A compromised mechanical seal failed entirely on the main Freon refrigeration compressor during routine maintenance.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3520440"/>
            <a:ext cx="73152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Primary Hazard: </a:t>
            </a:r>
            <a:r>
              <a:rPr lang="en-US" sz="1600" dirty="0">
                <a:solidFill>
                  <a:srgbClr val="334155"/>
                </a:solidFill>
              </a:rPr>
              <a:t>High-pressure Freon coolant evacuated from the system rapidly, triggering pressure drop alarms on the bridge.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"/>
            <a:ext cx="91440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</a:rPr>
              <a:t>SYS.MONITOR // ACTIVE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4A3B8"/>
                </a:solidFill>
              </a:rPr>
              <a:t>MODULE_02B // LIVE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4937760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</a:rPr>
              <a:t>MARINE HVAC DIGITAL TWIN v1.0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0" y="41148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400" b="1" dirty="0">
                <a:solidFill>
                  <a:srgbClr val="F1F5F9"/>
                </a:solidFill>
              </a:rPr>
              <a:t>HVAC.TWIN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6576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CASE STUDY 2: F/V KALTAN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868680"/>
            <a:ext cx="4572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490"/>
                </a:solidFill>
              </a:rPr>
              <a:t>GAS PHYSICS &amp; CONFINED SPACE HAZARD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508760"/>
            <a:ext cx="73152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</a:rPr>
              <a:t>Fluid Dynamics of Freon: </a:t>
            </a:r>
            <a:r>
              <a:rPr lang="en-US" sz="1600" dirty="0">
                <a:solidFill>
                  <a:srgbClr val="334155"/>
                </a:solidFill>
              </a:rPr>
              <a:t>Refrigerant gases like Freon are significantly heavier than ambient air.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73152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</a:rPr>
              <a:t>The Invisible Trap: </a:t>
            </a:r>
            <a:r>
              <a:rPr lang="en-US" sz="1600" dirty="0">
                <a:solidFill>
                  <a:srgbClr val="334155"/>
                </a:solidFill>
              </a:rPr>
              <a:t>Rather than dissipating, the toxic gas behaved like a fluid, flowing down deck stairs and displacing lighter oxygen.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73152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743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Accumulation Zone: </a:t>
            </a:r>
            <a:r>
              <a:rPr lang="en-US" sz="1600" dirty="0">
                <a:solidFill>
                  <a:srgbClr val="334155"/>
                </a:solidFill>
              </a:rPr>
              <a:t>The gas pooled in the lowest point of the vessel—the unventilated lower fish hold.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3520440"/>
            <a:ext cx="73152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Fatal Human Error: </a:t>
            </a:r>
            <a:r>
              <a:rPr lang="en-US" sz="1600" dirty="0">
                <a:solidFill>
                  <a:srgbClr val="334155"/>
                </a:solidFill>
              </a:rPr>
              <a:t>Crewmen breached protocol by entering the confined space to inspect the leak without SCBA gear, resulting in rapid asphyxiation.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"/>
            <a:ext cx="91440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</a:rPr>
              <a:t>SYS.MONITOR // ACTIVE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4A3B8"/>
                </a:solidFill>
              </a:rPr>
              <a:t>MODULE_02C // LIVE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4937760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</a:rPr>
              <a:t>MARINE HVAC DIGITAL TWIN v1.0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0" y="41148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400" b="1" dirty="0">
                <a:solidFill>
                  <a:srgbClr val="F1F5F9"/>
                </a:solidFill>
              </a:rPr>
              <a:t>HVAC.TWIN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6576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REAL-WORLD AFTERMATH: F/V KALTAN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868680"/>
            <a:ext cx="4572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490"/>
                </a:solidFill>
              </a:rPr>
              <a:t>ACTUAL INCIDENT PHOTO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8412480" cy="3200400"/>
          </a:xfrm>
          <a:prstGeom prst="rect">
            <a:avLst/>
          </a:prstGeom>
          <a:solidFill>
            <a:srgbClr val="E2E8F0"/>
          </a:solidFill>
          <a:ln w="25400"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37160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INSERT ACTUAL INCIDENT PHOTO HERE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(Real-world picture of the vessel or aftermath)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"/>
            <a:ext cx="91440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</a:rPr>
              <a:t>SYS.MONITOR // ACTIVE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4A3B8"/>
                </a:solidFill>
              </a:rPr>
              <a:t>MODULE_02D // LIVE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4937760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</a:rPr>
              <a:t>MARINE HVAC DIGITAL TWIN v1.0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0" y="41148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400" b="1" dirty="0">
                <a:solidFill>
                  <a:srgbClr val="F1F5F9"/>
                </a:solidFill>
              </a:rPr>
              <a:t>HVAC.TWIN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6576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SIMULATION: F/V KALTAN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868680"/>
            <a:ext cx="4572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490"/>
                </a:solidFill>
              </a:rPr>
              <a:t>CRITICAL DECISION REQUIRED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8412480" cy="3200400"/>
          </a:xfrm>
          <a:prstGeom prst="rect">
            <a:avLst/>
          </a:prstGeom>
          <a:solidFill>
            <a:srgbClr val="E2E8F0"/>
          </a:solidFill>
          <a:ln w="25400"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37160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INSERT DIGITAL TWIN SCREENSHOT HERE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(Action: Require SCBA Gear Before Entry)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"/>
            <a:ext cx="91440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</a:rPr>
              <a:t>SYS.MONITOR // ACTIVE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4A3B8"/>
                </a:solidFill>
              </a:rPr>
              <a:t>MODULE_03A // LIVE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4937760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</a:rPr>
              <a:t>MARINE HVAC DIGITAL TWIN v1.0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0" y="41148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400" b="1" dirty="0">
                <a:solidFill>
                  <a:srgbClr val="F1F5F9"/>
                </a:solidFill>
              </a:rPr>
              <a:t>HVAC.TWIN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6576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CASE STUDY 3: INS RANVIR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868680"/>
            <a:ext cx="4572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490"/>
                </a:solidFill>
              </a:rPr>
              <a:t>INCIDENT OVERVIEW &amp; VESSEL PROFILE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508760"/>
            <a:ext cx="73152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</a:rPr>
              <a:t>Vessel Classification: </a:t>
            </a:r>
            <a:r>
              <a:rPr lang="en-US" sz="1600" dirty="0">
                <a:solidFill>
                  <a:srgbClr val="334155"/>
                </a:solidFill>
              </a:rPr>
              <a:t>Rajput-class guided-missile destroyer, Indian Navy.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73152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</a:rPr>
              <a:t>Incident Environment: </a:t>
            </a:r>
            <a:r>
              <a:rPr lang="en-US" sz="1600" dirty="0">
                <a:solidFill>
                  <a:srgbClr val="334155"/>
                </a:solidFill>
              </a:rPr>
              <a:t>Naval Dockyard, Mumbai, India (January 2022).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73152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743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</a:rPr>
              <a:t>Operation: </a:t>
            </a:r>
            <a:r>
              <a:rPr lang="en-US" sz="1600" dirty="0">
                <a:solidFill>
                  <a:srgbClr val="334155"/>
                </a:solidFill>
              </a:rPr>
              <a:t>Shore contractors boarded the vessel for routine maintenance and topping up of the forward AC plant's R-22 refrigerant.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3520440"/>
            <a:ext cx="73152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Primary Hazard: </a:t>
            </a:r>
            <a:r>
              <a:rPr lang="en-US" sz="1600" dirty="0">
                <a:solidFill>
                  <a:srgbClr val="334155"/>
                </a:solidFill>
              </a:rPr>
              <a:t>A massive supply chain error. Contractors unknowingly attached a cylinder containing R-152a—a highly flammable hydrocarbon gas.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"/>
            <a:ext cx="91440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</a:rPr>
              <a:t>SYS.MONITOR // ACTIVE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4A3B8"/>
                </a:solidFill>
              </a:rPr>
              <a:t>MODULE_03B // LIVE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4937760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</a:rPr>
              <a:t>MARINE HVAC DIGITAL TWIN v1.0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0" y="41148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400" b="1" dirty="0">
                <a:solidFill>
                  <a:srgbClr val="F1F5F9"/>
                </a:solidFill>
              </a:rPr>
              <a:t>HVAC.TWIN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6576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CASE STUDY 3: INS RANVIR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868680"/>
            <a:ext cx="4572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490"/>
                </a:solidFill>
              </a:rPr>
              <a:t>THERMOBARIC EXPLOSION MECHANISM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508760"/>
            <a:ext cx="73152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</a:rPr>
              <a:t>System Mismatch: </a:t>
            </a:r>
            <a:r>
              <a:rPr lang="en-US" sz="1600" dirty="0">
                <a:solidFill>
                  <a:srgbClr val="334155"/>
                </a:solidFill>
              </a:rPr>
              <a:t>Pumping R-152a into an R-22 system caused immediate pressure imbalances, blowing the compressor casing seal.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73152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Gas Accumulation: </a:t>
            </a:r>
            <a:r>
              <a:rPr lang="en-US" sz="1600" dirty="0">
                <a:solidFill>
                  <a:srgbClr val="334155"/>
                </a:solidFill>
              </a:rPr>
              <a:t>The forward machinery room rapidly filled with the unventilated, combustible hydrocarbon vapor.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73152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743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</a:rPr>
              <a:t>Ignition Source: </a:t>
            </a:r>
            <a:r>
              <a:rPr lang="en-US" sz="1600" dirty="0">
                <a:solidFill>
                  <a:srgbClr val="334155"/>
                </a:solidFill>
              </a:rPr>
              <a:t>The pooling gas reached a nearby electrical panel just as an automatic contactor relay tripped, generating a high-voltage spark.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3520440"/>
            <a:ext cx="73152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Ultimate Consequence: </a:t>
            </a:r>
            <a:r>
              <a:rPr lang="en-US" sz="1600" dirty="0">
                <a:solidFill>
                  <a:srgbClr val="334155"/>
                </a:solidFill>
              </a:rPr>
              <a:t>The spark ignited the hydrocarbon gas, causing a devastating thermobaric explosion and hull breach.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"/>
            <a:ext cx="91440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</a:rPr>
              <a:t>SYS.MONITOR // ACTIVE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4A3B8"/>
                </a:solidFill>
              </a:rPr>
              <a:t>MODULE_03C // LIVE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4937760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</a:rPr>
              <a:t>MARINE HVAC DIGITAL TWIN v1.0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0" y="41148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400" b="1" dirty="0">
                <a:solidFill>
                  <a:srgbClr val="F1F5F9"/>
                </a:solidFill>
              </a:rPr>
              <a:t>HVAC.TWIN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6576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REAL-WORLD AFTERMATH: INS RANVIR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868680"/>
            <a:ext cx="4572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490"/>
                </a:solidFill>
              </a:rPr>
              <a:t>ACTUAL INCIDENT PHOTO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8412480" cy="3200400"/>
          </a:xfrm>
          <a:prstGeom prst="rect">
            <a:avLst/>
          </a:prstGeom>
          <a:solidFill>
            <a:srgbClr val="E2E8F0"/>
          </a:solidFill>
          <a:ln w="25400"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37160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INSERT ACTUAL INCIDENT PHOTO HERE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(Real-world picture of the vessel or aftermath)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"/>
            <a:ext cx="91440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</a:rPr>
              <a:t>SYS.MONITOR // ACTIVE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4A3B8"/>
                </a:solidFill>
              </a:rPr>
              <a:t>MODULE_03D // LIVE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4937760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</a:rPr>
              <a:t>MARINE HVAC DIGITAL TWIN v1.0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0" y="41148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400" b="1" dirty="0">
                <a:solidFill>
                  <a:srgbClr val="F1F5F9"/>
                </a:solidFill>
              </a:rPr>
              <a:t>HVAC.TWIN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6576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SIMULATION: INS RANVIR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868680"/>
            <a:ext cx="4572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490"/>
                </a:solidFill>
              </a:rPr>
              <a:t>CRITICAL DECISION REQUIRED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8412480" cy="3200400"/>
          </a:xfrm>
          <a:prstGeom prst="rect">
            <a:avLst/>
          </a:prstGeom>
          <a:solidFill>
            <a:srgbClr val="E2E8F0"/>
          </a:solidFill>
          <a:ln w="25400"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37160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INSERT DIGITAL TWIN SCREENSHOT HERE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(Action: Emergency Halt - Flammable R-152a Detected)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"/>
            <a:ext cx="91440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</a:rPr>
              <a:t>SYS.MONITOR // ACTIVE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4A3B8"/>
                </a:solidFill>
              </a:rPr>
              <a:t>MODULE_04A // LIVE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4937760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</a:rPr>
              <a:t>MARINE HVAC DIGITAL TWIN v1.0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0" y="41148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400" b="1" dirty="0">
                <a:solidFill>
                  <a:srgbClr val="F1F5F9"/>
                </a:solidFill>
              </a:rPr>
              <a:t>HVAC.TWIN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6576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CASE STUDY 4: AL-SALAM BOCCACCIO 98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868680"/>
            <a:ext cx="4572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490"/>
                </a:solidFill>
              </a:rPr>
              <a:t>INCIDENT OVERVIEW &amp; VESSEL PROFILE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508760"/>
            <a:ext cx="73152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</a:rPr>
              <a:t>Vessel Classification: </a:t>
            </a:r>
            <a:r>
              <a:rPr lang="en-US" sz="1600" dirty="0">
                <a:solidFill>
                  <a:srgbClr val="334155"/>
                </a:solidFill>
              </a:rPr>
              <a:t>Heavy Egyptian Ro-Ro (Roll-on/Roll-off) Passenger Ferry.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73152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</a:rPr>
              <a:t>Incident Environment: </a:t>
            </a:r>
            <a:r>
              <a:rPr lang="en-US" sz="1600" dirty="0">
                <a:solidFill>
                  <a:srgbClr val="334155"/>
                </a:solidFill>
              </a:rPr>
              <a:t>Open waters in the Red Sea, sailing from Duba to Safaga (February 2006).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73152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743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</a:rPr>
              <a:t>Initial Trigger: </a:t>
            </a:r>
            <a:r>
              <a:rPr lang="en-US" sz="1600" dirty="0">
                <a:solidFill>
                  <a:srgbClr val="334155"/>
                </a:solidFill>
              </a:rPr>
              <a:t>A localized fire sparked in the lower vehicle deck, suspected to have originated in a parked cargo vehicle.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3520440"/>
            <a:ext cx="73152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Primary Hazard: </a:t>
            </a:r>
            <a:r>
              <a:rPr lang="en-US" sz="1600" dirty="0">
                <a:solidFill>
                  <a:srgbClr val="334155"/>
                </a:solidFill>
              </a:rPr>
              <a:t>Smoke alarms triggered on the bridge, and crew members began firefighting operations using high-volume seawater hoses.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"/>
            <a:ext cx="91440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</a:rPr>
              <a:t>SYS.MONITOR // ACTIVE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4A3B8"/>
                </a:solidFill>
              </a:rPr>
              <a:t>MODULE_04B // LIVE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4937760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</a:rPr>
              <a:t>MARINE HVAC DIGITAL TWIN v1.0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0" y="41148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400" b="1" dirty="0">
                <a:solidFill>
                  <a:srgbClr val="F1F5F9"/>
                </a:solidFill>
              </a:rPr>
              <a:t>HVAC.TWIN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6576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CASE STUDY 4: AL-SALAM BOCCACCIO 98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868680"/>
            <a:ext cx="4572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490"/>
                </a:solidFill>
              </a:rPr>
              <a:t>VENTILATION ERROR &amp; FREE SURFACE EFFECT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508760"/>
            <a:ext cx="73152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HVAC Operational Error: </a:t>
            </a:r>
            <a:r>
              <a:rPr lang="en-US" sz="1600" dirty="0">
                <a:solidFill>
                  <a:srgbClr val="334155"/>
                </a:solidFill>
              </a:rPr>
              <a:t>Crew failed to shut down the massive forced-draft supply and exhaust ventilation fans on the vehicle deck.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73152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</a:rPr>
              <a:t>Fire Dynamics: </a:t>
            </a:r>
            <a:r>
              <a:rPr lang="en-US" sz="1600" dirty="0">
                <a:solidFill>
                  <a:srgbClr val="334155"/>
                </a:solidFill>
              </a:rPr>
              <a:t>The continuous flow of fresh oxygen acted as a massive bellows, expanding the localized fire uncontrollably.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73152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743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</a:rPr>
              <a:t>Drainage Failure: </a:t>
            </a:r>
            <a:r>
              <a:rPr lang="en-US" sz="1600" dirty="0">
                <a:solidFill>
                  <a:srgbClr val="334155"/>
                </a:solidFill>
              </a:rPr>
              <a:t>To fight the massive fire, tons of seawater were pumped in, but blocked deck scuppers trapped the water onboard.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3520440"/>
            <a:ext cx="73152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Ultimate Consequence: </a:t>
            </a:r>
            <a:r>
              <a:rPr lang="en-US" sz="1600" dirty="0">
                <a:solidFill>
                  <a:srgbClr val="334155"/>
                </a:solidFill>
              </a:rPr>
              <a:t>The trapped water sloshed across the deck (Free Surface Effect), destabilizing the center of gravity and capsizing the ferry.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"/>
            <a:ext cx="91440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</a:rPr>
              <a:t>SYS.MONITOR // ACTIVE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4A3B8"/>
                </a:solidFill>
              </a:rPr>
              <a:t>MODULE_04C // LIVE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4937760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</a:rPr>
              <a:t>MARINE HVAC DIGITAL TWIN v1.0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0" y="41148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400" b="1" dirty="0">
                <a:solidFill>
                  <a:srgbClr val="F1F5F9"/>
                </a:solidFill>
              </a:rPr>
              <a:t>HVAC.TWIN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65759" y="365760"/>
            <a:ext cx="81120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REAL-WORLD AFTERMATH: AL-SALAM BOCCACCIO 98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868680"/>
            <a:ext cx="4572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490"/>
                </a:solidFill>
              </a:rPr>
              <a:t>ACTUAL INCIDENT PHOTO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8412480" cy="3200400"/>
          </a:xfrm>
          <a:prstGeom prst="rect">
            <a:avLst/>
          </a:prstGeom>
          <a:solidFill>
            <a:srgbClr val="E2E8F0"/>
          </a:solidFill>
          <a:ln w="25400"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37160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INSERT ACTUAL INCIDENT PHOTO HERE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(Real-world picture of the vessel or aftermath)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"/>
            <a:ext cx="91440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</a:rPr>
              <a:t>SYS.MONITOR // ACTIVE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4A3B8"/>
                </a:solidFill>
              </a:rPr>
              <a:t>MODULE_04D // LIVE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4937760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</a:rPr>
              <a:t>MARINE HVAC DIGITAL TWIN v1.0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0" y="41148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400" b="1" dirty="0">
                <a:solidFill>
                  <a:srgbClr val="F1F5F9"/>
                </a:solidFill>
              </a:rPr>
              <a:t>HVAC.TWIN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6576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SIMULATION: AL-SALAM BOCCACCIO 98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868680"/>
            <a:ext cx="4572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490"/>
                </a:solidFill>
              </a:rPr>
              <a:t>CRITICAL DECISION REQUIRED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8412480" cy="3200400"/>
          </a:xfrm>
          <a:prstGeom prst="rect">
            <a:avLst/>
          </a:prstGeom>
          <a:solidFill>
            <a:srgbClr val="E2E8F0"/>
          </a:solidFill>
          <a:ln w="25400"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37160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INSERT DIGITAL TWIN SCREENSHOT HERE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(Action: Emergency Stop Ventilation Fans)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"/>
            <a:ext cx="91440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</a:rPr>
              <a:t>SYS.MONITOR // ACTIVE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4A3B8"/>
                </a:solidFill>
              </a:rPr>
              <a:t>MODULE_05A // LIVE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4937760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</a:rPr>
              <a:t>MARINE HVAC DIGITAL TWIN v1.0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0" y="41148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400" b="1" dirty="0">
                <a:solidFill>
                  <a:srgbClr val="F1F5F9"/>
                </a:solidFill>
              </a:rPr>
              <a:t>HVAC.TWIN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6576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DIGITAL TWIN ARCHITECTURE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868680"/>
            <a:ext cx="4572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490"/>
                </a:solidFill>
              </a:rPr>
              <a:t>HOW THE LIVE SIMULATOR WORKS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46304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0E7490"/>
          </a:solidFill>
          <a:ln/>
          <a:effectLst>
            <a:outerShdw blurRad="63500" dist="50800" dir="16200000" algn="bl" rotWithShape="0">
              <a:srgbClr val="0E749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14630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1. USER INPUTS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React State Variables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(Ambient Temp, Sea Temp, Valve %, Compressor Load)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34640" y="1874520"/>
            <a:ext cx="457200" cy="45720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5" name="Shape 13"/>
          <p:cNvSpPr/>
          <p:nvPr/>
        </p:nvSpPr>
        <p:spPr>
          <a:xfrm>
            <a:off x="3383280" y="1463040"/>
            <a:ext cx="2926080" cy="1280160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/>
          <a:effectLst>
            <a:outerShdw blurRad="635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83280" y="146304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2. THERMODYNAMIC ENGINE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Calculates real-time Condenser Pressures, Cooling Effects, and Humidity Deltas based on physical limits.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1874520"/>
            <a:ext cx="457200" cy="45720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949440" y="146304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DC2626"/>
          </a:solidFill>
          <a:ln/>
          <a:effectLst>
            <a:outerShdw blurRad="63500" dist="50800" dir="16200000" algn="bl" rotWithShape="0">
              <a:srgbClr val="DC2626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49440" y="14630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3. UI RENDER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Updates UI SVGs,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Triggers Logic Alarms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841248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017520"/>
            <a:ext cx="91440" cy="13716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0175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Live Logic Snippet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condenserPress = Math.max(4.0, 10 + ((seaTemp - 20) * 0.8) + (activeLoad * 0.05));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coolingEffect = isTripped ? 0 : (coolerValve / 100) * maxCoolingDelta;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cabinHumidity = 40 + (humidifierValve / 100 * 40) - (coolerValve / 100 * 15);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"/>
            <a:ext cx="91440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</a:rPr>
              <a:t>SYS.MONITOR // ACTIVE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4A3B8"/>
                </a:solidFill>
              </a:rPr>
              <a:t>MODULE_06A // LIVE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4937760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</a:rPr>
              <a:t>MARINE HVAC DIGITAL TWIN v1.0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0" y="41148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400" b="1" dirty="0">
                <a:solidFill>
                  <a:srgbClr val="F1F5F9"/>
                </a:solidFill>
              </a:rPr>
              <a:t>HVAC.TWIN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6576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SYSTEM SIMULATOR: REFRIGERATION PLANT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868680"/>
            <a:ext cx="4572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490"/>
                </a:solidFill>
              </a:rPr>
              <a:t>PROVISION REFRIGERATION MONITORING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8412480" cy="3200400"/>
          </a:xfrm>
          <a:prstGeom prst="rect">
            <a:avLst/>
          </a:prstGeom>
          <a:solidFill>
            <a:srgbClr val="E2E8F0"/>
          </a:solidFill>
          <a:ln w="25400"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37160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INSERT SCREENSHOT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(Simulator Tab: Refrigeration Plant showing Meat/Veg Rooms)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"/>
            <a:ext cx="91440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</a:rPr>
              <a:t>SYS.MONITOR // ACTIVE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4A3B8"/>
                </a:solidFill>
              </a:rPr>
              <a:t>MODULE_06B // LIVE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4937760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</a:rPr>
              <a:t>MARINE HVAC DIGITAL TWIN v1.0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0" y="41148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400" b="1" dirty="0">
                <a:solidFill>
                  <a:srgbClr val="F1F5F9"/>
                </a:solidFill>
              </a:rPr>
              <a:t>HVAC.TWIN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6576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SYSTEM SIMULATOR: AIR HANDLING UNIT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868680"/>
            <a:ext cx="4572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490"/>
                </a:solidFill>
              </a:rPr>
              <a:t>AC AIR HANDLING UNIT (AHU) CONTROLS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8412480" cy="3200400"/>
          </a:xfrm>
          <a:prstGeom prst="rect">
            <a:avLst/>
          </a:prstGeom>
          <a:solidFill>
            <a:srgbClr val="E2E8F0"/>
          </a:solidFill>
          <a:ln w="25400"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37160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INSERT SCREENSHOT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(Simulator Tab: AHU View showing Cabin Temp and Humidity)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"/>
            <a:ext cx="91440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</a:rPr>
              <a:t>SYS.MONITOR // ACTIVE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4A3B8"/>
                </a:solidFill>
              </a:rPr>
              <a:t>MODULE_06C // LIVE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4937760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</a:rPr>
              <a:t>MARINE HVAC DIGITAL TWIN v1.0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0" y="41148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400" b="1" dirty="0">
                <a:solidFill>
                  <a:srgbClr val="F1F5F9"/>
                </a:solidFill>
              </a:rPr>
              <a:t>HVAC.TWIN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6576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SYSTEM SCHEMATIC &amp; PIPING DIAGRAM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868680"/>
            <a:ext cx="4572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490"/>
                </a:solidFill>
              </a:rPr>
              <a:t>HVAC LINE DIAGRAM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8412480" cy="3200400"/>
          </a:xfrm>
          <a:prstGeom prst="rect">
            <a:avLst/>
          </a:prstGeom>
          <a:solidFill>
            <a:srgbClr val="E2E8F0"/>
          </a:solidFill>
          <a:ln w="25400"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37160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INSERT SCHEMATIC IMAGE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(Paste an actual line diagram or piping schematic here)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1504</Words>
  <Application>Microsoft Office PowerPoint</Application>
  <PresentationFormat>On-screen Show (16:9)</PresentationFormat>
  <Paragraphs>216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Afsal Rahman J</cp:lastModifiedBy>
  <cp:revision>2</cp:revision>
  <dcterms:created xsi:type="dcterms:W3CDTF">2026-10-06T07:18:31Z</dcterms:created>
  <dcterms:modified xsi:type="dcterms:W3CDTF">2026-10-06T07:29:58Z</dcterms:modified>
</cp:coreProperties>
</file>